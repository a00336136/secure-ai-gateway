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SecureAI Gateway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371600" y="2542032"/>
            <a:ext cx="941832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6517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LLM Security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 Dependencies  •  87–93% Cost Savings  •  100% On-Premise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 |  IEEE Conference Paper  |  Open Source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LLMs Are Deployed Without Adequate Security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2743200" cy="3840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64008" cy="3840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deployments rely on one content filter. One bypass = full exposure.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743200" cy="3840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005840"/>
            <a:ext cx="64008" cy="3840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Risk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guardrails (AWS, Azure, OpenAI) send your prompts to the cloud. GDPR violation.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17336" y="1005840"/>
            <a:ext cx="2743200" cy="3840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17336" y="1005840"/>
            <a:ext cx="64008" cy="3840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Non-Compliance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54496" y="18745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25, EU AI Act 2024/1689, NIST AI 600-1 requirements ignored.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61704" y="1005840"/>
            <a:ext cx="2743200" cy="3840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61704" y="1005840"/>
            <a:ext cx="64008" cy="3840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11887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98864" y="1874520"/>
            <a:ext cx="2514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pricing at $15–30 per 1,000 evaluations. $1.5–2M over 3 years for large enterprises.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6199632"/>
            <a:ext cx="12161520" cy="5669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61996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enterprises have no formal LLM security policy (Gartner, 2024)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SecureAI Gateway: Defence-in-Depth for Enterprise LLMs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552"/>
            <a:ext cx="11521440" cy="47548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11338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open-source, on-premise LLM gateway with parallel 3-layer guardrails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47472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173736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" y="2532888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Policy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081528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Colang 2.0 DSL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jailbreak patterns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protection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78808" y="1572768"/>
            <a:ext cx="347472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6128" y="173736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88536" y="2532888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Content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61688" y="3081528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LlamaGuard 3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MLCommons AI Safety Taxonomy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harm categories (S1–S12)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37576" y="1572768"/>
            <a:ext cx="3474720" cy="34747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54896" y="173736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89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47304" y="2532888"/>
            <a:ext cx="32552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PII Protection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0456" y="3081528"/>
            <a:ext cx="31089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entity types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languages</a:t>
            </a:r>
            <a:endParaRPr lang="en-US" sz="1250" dirty="0"/>
          </a:p>
          <a:p>
            <a:pPr algn="l" marL="342900" indent="-342900">
              <a:buSzPct val="100000"/>
              <a:buChar char="•"/>
            </a:pPr>
            <a:r>
              <a:rPr lang="en-US" sz="12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25 compliant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" y="6263640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layers execute in PARALLEL via Project Reactor — 44% faster than sequential execution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27632" y="1435608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81912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819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627632" y="1965960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12264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122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27632" y="2496312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42616"/>
            <a:ext cx="26517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4261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| LlamaGuard | Presidio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627632" y="3026664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172968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1729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627632" y="3557016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03320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627632" y="4087368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233672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33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627632" y="4617720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764024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640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627632" y="5148072"/>
            <a:ext cx="36576" cy="14630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5294376"/>
            <a:ext cx="2651760" cy="384048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529437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Response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60920" y="1051560"/>
            <a:ext cx="4480560" cy="804672"/>
          </a:xfrm>
          <a:prstGeom prst="rect">
            <a:avLst/>
          </a:prstGeom>
          <a:solidFill>
            <a:srgbClr val="2A2A2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088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~90ms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60920" y="1508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latency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60920" y="2020824"/>
            <a:ext cx="4480560" cy="804672"/>
          </a:xfrm>
          <a:prstGeom prst="rect">
            <a:avLst/>
          </a:prstGeom>
          <a:solidFill>
            <a:srgbClr val="2A2A2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2057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60920" y="24780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request 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60920" y="2990088"/>
            <a:ext cx="4480560" cy="804672"/>
          </a:xfrm>
          <a:prstGeom prst="rect">
            <a:avLst/>
          </a:prstGeom>
          <a:solidFill>
            <a:srgbClr val="2A2A2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3026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60920" y="3447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P50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60920" y="3959352"/>
            <a:ext cx="4480560" cy="804672"/>
          </a:xfrm>
          <a:prstGeom prst="rect">
            <a:avLst/>
          </a:prstGeom>
          <a:solidFill>
            <a:srgbClr val="2A2A2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3995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req/hr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360920" y="44165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60920" y="4928616"/>
            <a:ext cx="4480560" cy="804672"/>
          </a:xfrm>
          <a:prstGeom prst="rect">
            <a:avLst/>
          </a:prstGeom>
          <a:solidFill>
            <a:srgbClr val="2A2A2A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60920" y="49651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60920" y="53858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calls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Performance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5646420" cy="2560320"/>
          </a:xfrm>
          <a:prstGeom prst="rect">
            <a:avLst/>
          </a:prstGeom>
          <a:solidFill>
            <a:srgbClr val="1B5E2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5646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395728"/>
            <a:ext cx="54635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Interception Rate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54096"/>
            <a:ext cx="54635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attack patterns tested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40780" y="1005840"/>
            <a:ext cx="5646420" cy="2560320"/>
          </a:xfrm>
          <a:prstGeom prst="rect">
            <a:avLst/>
          </a:prstGeom>
          <a:solidFill>
            <a:srgbClr val="1B5E2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0780" y="1143000"/>
            <a:ext cx="5646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332220" y="2395728"/>
            <a:ext cx="54635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on PII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32220" y="3054096"/>
            <a:ext cx="54635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cards, SSNs, IBANs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4320" y="3822192"/>
            <a:ext cx="5646420" cy="2560320"/>
          </a:xfrm>
          <a:prstGeom prst="rect">
            <a:avLst/>
          </a:prstGeom>
          <a:solidFill>
            <a:srgbClr val="1B5E2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959352"/>
            <a:ext cx="5646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90ms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65760" y="5212080"/>
            <a:ext cx="54635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Latency P50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5760" y="5870448"/>
            <a:ext cx="54635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faster than sequential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40780" y="3822192"/>
            <a:ext cx="5646420" cy="2560320"/>
          </a:xfrm>
          <a:prstGeom prst="rect">
            <a:avLst/>
          </a:prstGeom>
          <a:solidFill>
            <a:srgbClr val="1B5E20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0780" y="3959352"/>
            <a:ext cx="56464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6332220" y="5212080"/>
            <a:ext cx="54635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Cost Savings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32220" y="5870448"/>
            <a:ext cx="54635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commercial alternatives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6236208"/>
            <a:ext cx="12161520" cy="5486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6236208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OWASP LLM Top 10  |  MLCommons AILuminate  |  HarmBench  |  MITRE ATLAS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Coverage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Article 25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700784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 &amp; Default — data protection built-in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75760" y="1005840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75760" y="1005840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0" y="1115568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2024/1689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67200" y="1700784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AI system requirements &amp; transparency obligations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2920" y="1005840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2920" y="1005840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4360" y="1115568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4360" y="1700784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insecure output, training data poisoning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688336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88336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798064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600-1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" y="3383280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risk management framework — LLM-as-Judge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75760" y="2688336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5760" y="2688336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7200" y="2798064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67200" y="3383280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Govern, Map, Measure, Manage — full lifecycle AI 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2920" y="2688336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22920" y="2688336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4360" y="2798064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ATLAS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14360" y="3383280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threat landscape for AI-enabled systems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4370832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370832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480560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0040" y="5065776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availability, confidentiality trust principles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75760" y="4370832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75760" y="4370832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67200" y="4480560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Controls v8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267200" y="5065776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critical security controls — enterprise hardening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22920" y="4370832"/>
            <a:ext cx="3810000" cy="1572768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22920" y="4370832"/>
            <a:ext cx="3810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14360" y="4480560"/>
            <a:ext cx="362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14360" y="5065776"/>
            <a:ext cx="3627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management system certification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291072"/>
            <a:ext cx="12161520" cy="4937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6291072"/>
            <a:ext cx="11612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open-source LLM gateway covers this compliance breadth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 Cost of Ownership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828800"/>
                <a:gridCol w="1828800"/>
                <a:gridCol w="91440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SecureAI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Cloud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$72–180K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~$38K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$378–630K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~$140K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$1.5–2.0M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051560"/>
            <a:ext cx="3429000" cy="4572000"/>
          </a:xfrm>
          <a:prstGeom prst="rect">
            <a:avLst/>
          </a:prstGeom>
          <a:solidFill>
            <a:srgbClr val="2A2A2A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13648" y="12161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much cheaper?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613648" y="1764792"/>
            <a:ext cx="3209544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fees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per-request pricing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GPU rental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GDPR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960120"/>
            <a:ext cx="5760720" cy="45720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57607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5358384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3.4.3 / Java 21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Reactor (WebFlux)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0.12.6 + BCrypt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Bucket4j + Redis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Resilience4j (Circuit Breaker)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 / Swagger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960120"/>
            <a:ext cx="5760720" cy="45720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960120"/>
            <a:ext cx="57607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960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Security Layer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9088" y="1600200"/>
            <a:ext cx="5358384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3.1 8B)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0.10.0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LlamaGuard 3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 v2.2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(NIST AI 600-1)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LLM10 Compliance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5641848"/>
            <a:ext cx="12161520" cy="121615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5641848"/>
            <a:ext cx="116128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 Jenkins CI/CD (15 stages)  |  JaCoCo 80%  |  SpotBugs  |  SonarQube  |  OWASP Dep-Check  |  Trivy  |  Garak  |  Promptfoo  |  Kubernetes + HPA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15-Stage DevSecOps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5780" y="105156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57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1.Setup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34540" y="132130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25980" y="105156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59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2.Maven Build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34740" y="132130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6180" y="105156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61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3.Unit Tests + JaCoCo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4940" y="132130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26380" y="105156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63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4.SpotBugs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35140" y="132130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26580" y="1051560"/>
            <a:ext cx="150876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265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5.SonarQube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35340" y="132130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6780" y="105156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67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6.Archive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35540" y="132130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26980" y="105156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26980" y="105156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7.Docker Build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25880" y="2148840"/>
            <a:ext cx="150876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2148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7b.AI Red-Team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34640" y="241858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2148840"/>
            <a:ext cx="1508760" cy="594360"/>
          </a:xfrm>
          <a:prstGeom prst="rect">
            <a:avLst/>
          </a:prstGeom>
          <a:solidFill>
            <a:srgbClr val="8B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2148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8.Trivy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241858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214884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2148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9.Docker Push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41858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214884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148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10.Deploy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35240" y="241858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26680" y="214884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26680" y="2148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11.Karate E2E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35440" y="2418588"/>
            <a:ext cx="91440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0" y="2148840"/>
            <a:ext cx="1508760" cy="59436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26880" y="21488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12.Cleanup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108960"/>
            <a:ext cx="11521440" cy="530352"/>
          </a:xfrm>
          <a:prstGeom prst="rect">
            <a:avLst/>
          </a:prstGeom>
          <a:solidFill>
            <a:srgbClr val="8B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108960"/>
            <a:ext cx="11247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Build-Blocking Security Gates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20040" y="3767328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206+ test methods  |  29 test classes  |  80% line coverage  |  70% branch coverage  |  Zero CVEs CVSS ≥ 7.0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Proposition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86968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3718560" cy="384048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371856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ROI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44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hours, not months. No cloud contracts. No DPAs. No vendor negotiations. Savings start on day 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21480" y="1051560"/>
            <a:ext cx="3718560" cy="384048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1480" y="1051560"/>
            <a:ext cx="371856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8640" y="12344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Shield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358640" y="1920240"/>
            <a:ext cx="344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EU AI Act, NIST, OWASP, SOC 2 ready out of the box. Compliance documentation included.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2920" y="1051560"/>
            <a:ext cx="3718560" cy="384048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2920" y="1051560"/>
            <a:ext cx="371856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0080" y="1234440"/>
            <a:ext cx="344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 Architecture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60080" y="1920240"/>
            <a:ext cx="3444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no vendor lock-in. Extensible Colang DSL. Kubernetes-native with HPA auto-scaling.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5120640"/>
            <a:ext cx="11521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by: IEEE peer-reviewed research  |  Built on: NeMo + LlamaGuard + Presidio (used by FAANG)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1152144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11521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Altaf Shaik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1521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Security Engineer  |  AI/ML Platform Architect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2514600"/>
            <a:ext cx="11521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Conference Paper: SecureAI Gateway: A Three-Layer Defence-in-Depth Framework</a:t>
            </a:r>
            <a:endParaRPr lang="en-US" sz="15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all 4 modules, 15-stage CI/CD, Kubernetes deployment</a:t>
            </a:r>
            <a:endParaRPr lang="en-US" sz="15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Spring Boot, Java 21, LLM Security, DevSecOps, Cloud Architecture</a:t>
            </a:r>
            <a:endParaRPr lang="en-US" sz="15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Solved: GDPR compliance + LLM security + Cost optimization in a single framework</a:t>
            </a:r>
            <a:endParaRPr lang="en-US" sz="1500" dirty="0"/>
          </a:p>
          <a:p>
            <a:pPr algn="l"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github.com/A00336136/secure-ai-gateway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6144768"/>
            <a:ext cx="12161520" cy="640080"/>
          </a:xfrm>
          <a:prstGeom prst="rect">
            <a:avLst/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144768"/>
            <a:ext cx="1161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linkedin.com/in/altaf-shaik   |   GitHub: github.com/A00336136   |   Email: altafshaik.dev@gmail.com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SecureAI Gateway – Enterprise Pitch Deck</dc:title>
  <dc:subject>PptxGenJS Presentation</dc:subject>
  <dc:creator>Altaf Shaik</dc:creator>
  <cp:lastModifiedBy>Altaf Shaik</cp:lastModifiedBy>
  <cp:revision>1</cp:revision>
  <dcterms:created xsi:type="dcterms:W3CDTF">2026-04-01T22:16:36Z</dcterms:created>
  <dcterms:modified xsi:type="dcterms:W3CDTF">2026-04-01T22:16:36Z</dcterms:modified>
</cp:coreProperties>
</file>